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61204"/>
            <a:ext cx="9144000" cy="82296"/>
          </a:xfrm>
          <a:prstGeom prst="rect">
            <a:avLst/>
          </a:prstGeom>
          <a:solidFill>
            <a:srgbClr val="2E6096"/>
          </a:solidFill>
          <a:ln w="12700">
            <a:solidFill>
              <a:srgbClr val="2E6096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22000"/>
          </a:blip>
          <a:stretch>
            <a:fillRect/>
          </a:stretch>
        </p:blipFill>
        <p:spPr>
          <a:xfrm>
            <a:off x="5669280" y="457200"/>
            <a:ext cx="3200400" cy="3200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777240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Migration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457200" y="1444752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System</a:t>
            </a:r>
            <a:endParaRPr lang="en-US" sz="3800" dirty="0"/>
          </a:p>
        </p:txBody>
      </p:sp>
      <p:sp>
        <p:nvSpPr>
          <p:cNvPr id="7" name="Shape 4"/>
          <p:cNvSpPr/>
          <p:nvPr/>
        </p:nvSpPr>
        <p:spPr>
          <a:xfrm>
            <a:off x="457200" y="2103120"/>
            <a:ext cx="4114800" cy="0"/>
          </a:xfrm>
          <a:prstGeom prst="line">
            <a:avLst/>
          </a:prstGeom>
          <a:noFill/>
          <a:ln w="9525">
            <a:solidFill>
              <a:srgbClr val="2E609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2176272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CyberArk On-Premises → Privilege Cloud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57200" y="248716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8-Agent AI Framework  |  End-to-End Migration Automation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57200" y="3291840"/>
            <a:ext cx="2377440" cy="960120"/>
          </a:xfrm>
          <a:prstGeom prst="rect">
            <a:avLst/>
          </a:prstGeom>
          <a:solidFill>
            <a:srgbClr val="0D2137"/>
          </a:solidFill>
          <a:ln w="12700">
            <a:solidFill>
              <a:srgbClr val="1C3F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7200" y="3291840"/>
            <a:ext cx="64008" cy="9601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21792" y="3364992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621792" y="3803904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Specialized Agents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2926080" y="3291840"/>
            <a:ext cx="2377440" cy="960120"/>
          </a:xfrm>
          <a:prstGeom prst="rect">
            <a:avLst/>
          </a:prstGeom>
          <a:solidFill>
            <a:srgbClr val="0D2137"/>
          </a:solidFill>
          <a:ln w="12700">
            <a:solidFill>
              <a:srgbClr val="1C3F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2926080" y="3291840"/>
            <a:ext cx="64008" cy="96012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090672" y="3364992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~60%</a:t>
            </a:r>
            <a:endParaRPr lang="en-US" sz="2800" dirty="0"/>
          </a:p>
        </p:txBody>
      </p:sp>
      <p:sp>
        <p:nvSpPr>
          <p:cNvPr id="17" name="Text 14"/>
          <p:cNvSpPr/>
          <p:nvPr/>
        </p:nvSpPr>
        <p:spPr>
          <a:xfrm>
            <a:off x="3090672" y="3803904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 Reduction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394960" y="3291840"/>
            <a:ext cx="2377440" cy="960120"/>
          </a:xfrm>
          <a:prstGeom prst="rect">
            <a:avLst/>
          </a:prstGeom>
          <a:solidFill>
            <a:srgbClr val="0D2137"/>
          </a:solidFill>
          <a:ln w="12700">
            <a:solidFill>
              <a:srgbClr val="1C3F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5394960" y="3291840"/>
            <a:ext cx="64008" cy="96012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559552" y="3364992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</a:t>
            </a:r>
            <a:endParaRPr lang="en-US" sz="2800" dirty="0"/>
          </a:p>
        </p:txBody>
      </p:sp>
      <p:sp>
        <p:nvSpPr>
          <p:cNvPr id="21" name="Text 18"/>
          <p:cNvSpPr/>
          <p:nvPr/>
        </p:nvSpPr>
        <p:spPr>
          <a:xfrm>
            <a:off x="5559552" y="3803904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Operation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Stakeholder Briefing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Problem: Manual Migration is Slow, Risky &amp; Error-Prone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685800"/>
            <a:ext cx="8321040" cy="0"/>
          </a:xfrm>
          <a:prstGeom prst="line">
            <a:avLst/>
          </a:prstGeom>
          <a:noFill/>
          <a:ln w="6350">
            <a:solidFill>
              <a:srgbClr val="1C3F5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97280"/>
            <a:ext cx="4023360" cy="1325880"/>
          </a:xfrm>
          <a:prstGeom prst="rect">
            <a:avLst/>
          </a:prstGeom>
          <a:solidFill>
            <a:srgbClr val="0D2137"/>
          </a:solidFill>
          <a:ln w="12700">
            <a:solidFill>
              <a:srgbClr val="1C3F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097280"/>
            <a:ext cx="64008" cy="132588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207008"/>
            <a:ext cx="310896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33272" y="118872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Time-Intensive Discovery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94360" y="1572768"/>
            <a:ext cx="3657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Safe/account inventory takes weeks. Custom CPM plugin audits are undocumented. Integration mapping is done from tribal knowledge.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663440" y="1097280"/>
            <a:ext cx="4023360" cy="1325880"/>
          </a:xfrm>
          <a:prstGeom prst="rect">
            <a:avLst/>
          </a:prstGeom>
          <a:solidFill>
            <a:srgbClr val="0D2137"/>
          </a:solidFill>
          <a:ln w="12700">
            <a:solidFill>
              <a:srgbClr val="1C3F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63440" y="1097280"/>
            <a:ext cx="64008" cy="132588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207008"/>
            <a:ext cx="310896" cy="31089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285232" y="118872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Human Error Risk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4846320" y="1572768"/>
            <a:ext cx="3657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 mapping (14 → 4 tiers) done in spreadsheets. Missed CCP consumers cause application outages post-cutover.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411480" y="2651760"/>
            <a:ext cx="4023360" cy="1325880"/>
          </a:xfrm>
          <a:prstGeom prst="rect">
            <a:avLst/>
          </a:prstGeom>
          <a:solidFill>
            <a:srgbClr val="0D2137"/>
          </a:solidFill>
          <a:ln w="12700">
            <a:solidFill>
              <a:srgbClr val="1C3F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11480" y="2651760"/>
            <a:ext cx="64008" cy="132588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761488"/>
            <a:ext cx="310896" cy="31089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033272" y="274320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Blind Spots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594360" y="3127248"/>
            <a:ext cx="3657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automated audit trail during migration. Dual-system operation creates evidence gaps for HIPAA/PCI-DSS auditors.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4663440" y="2651760"/>
            <a:ext cx="4023360" cy="1325880"/>
          </a:xfrm>
          <a:prstGeom prst="rect">
            <a:avLst/>
          </a:prstGeom>
          <a:solidFill>
            <a:srgbClr val="0D2137"/>
          </a:solidFill>
          <a:ln w="12700">
            <a:solidFill>
              <a:srgbClr val="1C3F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663440" y="2651760"/>
            <a:ext cx="64008" cy="132588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2761488"/>
            <a:ext cx="310896" cy="31089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285232" y="274320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Overnight Maintenance Burden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4846320" y="3127248"/>
            <a:ext cx="3657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 manually babysit batch migrations at 2AM. Heartbeat failures go undetected until business hours.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411480" y="4224528"/>
            <a:ext cx="8321040" cy="475488"/>
          </a:xfrm>
          <a:prstGeom prst="rect">
            <a:avLst/>
          </a:prstGeom>
          <a:solidFill>
            <a:srgbClr val="1A0A0A"/>
          </a:solidFill>
          <a:ln w="12700">
            <a:solidFill>
              <a:srgbClr val="EF233C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4306824"/>
            <a:ext cx="274320" cy="2743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87552" y="4251960"/>
            <a:ext cx="7589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28–40 week migrations, integration outages, audit findings, and burned-out engineers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411480" y="4919472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Migration System  |  Problem Statement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2E6096"/>
          </a:solidFill>
          <a:ln w="12700">
            <a:solidFill>
              <a:srgbClr val="2E60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8-Agent AI Framework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11480" y="649224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Specialized agents handle every phase of the migration lifecycle autonomously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932688"/>
            <a:ext cx="832104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" y="1078992"/>
            <a:ext cx="1920240" cy="1463040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47472" y="1078992"/>
            <a:ext cx="384048" cy="2743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1078992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" y="1261872"/>
            <a:ext cx="502920" cy="5029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20624" y="1883664"/>
            <a:ext cx="17739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2496312" y="1078992"/>
            <a:ext cx="1920240" cy="14630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496312" y="1078992"/>
            <a:ext cx="384048" cy="2743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496312" y="1078992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9544" y="1261872"/>
            <a:ext cx="502920" cy="5029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569464" y="1883664"/>
            <a:ext cx="17739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Analysis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4645152" y="1078992"/>
            <a:ext cx="1920240" cy="146304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645152" y="1078992"/>
            <a:ext cx="384048" cy="2743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645152" y="1078992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8384" y="1261872"/>
            <a:ext cx="502920" cy="50292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718304" y="1883664"/>
            <a:ext cx="17739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6793992" y="1078992"/>
            <a:ext cx="1920240" cy="146304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793992" y="1078992"/>
            <a:ext cx="384048" cy="2743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6793992" y="1078992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7224" y="1261872"/>
            <a:ext cx="502920" cy="50292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867144" y="1883664"/>
            <a:ext cx="17739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1200" dirty="0"/>
          </a:p>
        </p:txBody>
      </p:sp>
      <p:sp>
        <p:nvSpPr>
          <p:cNvPr id="27" name="Shape 21"/>
          <p:cNvSpPr/>
          <p:nvPr/>
        </p:nvSpPr>
        <p:spPr>
          <a:xfrm>
            <a:off x="347472" y="2770632"/>
            <a:ext cx="1920240" cy="146304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347472" y="2770632"/>
            <a:ext cx="384048" cy="2743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347472" y="2770632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0704" y="2953512"/>
            <a:ext cx="502920" cy="50292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420624" y="3575304"/>
            <a:ext cx="17739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Heartbeat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200" dirty="0"/>
          </a:p>
        </p:txBody>
      </p:sp>
      <p:sp>
        <p:nvSpPr>
          <p:cNvPr id="32" name="Shape 25"/>
          <p:cNvSpPr/>
          <p:nvPr/>
        </p:nvSpPr>
        <p:spPr>
          <a:xfrm>
            <a:off x="2496312" y="2770632"/>
            <a:ext cx="1920240" cy="146304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3" name="Shape 26"/>
          <p:cNvSpPr/>
          <p:nvPr/>
        </p:nvSpPr>
        <p:spPr>
          <a:xfrm>
            <a:off x="2496312" y="2770632"/>
            <a:ext cx="384048" cy="2743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4" name="Text 27"/>
          <p:cNvSpPr/>
          <p:nvPr/>
        </p:nvSpPr>
        <p:spPr>
          <a:xfrm>
            <a:off x="2496312" y="2770632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9544" y="2953512"/>
            <a:ext cx="502920" cy="502920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2569464" y="3575304"/>
            <a:ext cx="17739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200" dirty="0"/>
          </a:p>
        </p:txBody>
      </p:sp>
      <p:sp>
        <p:nvSpPr>
          <p:cNvPr id="37" name="Shape 29"/>
          <p:cNvSpPr/>
          <p:nvPr/>
        </p:nvSpPr>
        <p:spPr>
          <a:xfrm>
            <a:off x="4645152" y="2770632"/>
            <a:ext cx="1920240" cy="14630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8" name="Shape 30"/>
          <p:cNvSpPr/>
          <p:nvPr/>
        </p:nvSpPr>
        <p:spPr>
          <a:xfrm>
            <a:off x="4645152" y="2770632"/>
            <a:ext cx="384048" cy="2743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9" name="Text 31"/>
          <p:cNvSpPr/>
          <p:nvPr/>
        </p:nvSpPr>
        <p:spPr>
          <a:xfrm>
            <a:off x="4645152" y="2770632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pic>
        <p:nvPicPr>
          <p:cNvPr id="4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58384" y="2953512"/>
            <a:ext cx="502920" cy="502920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4718304" y="3575304"/>
            <a:ext cx="17739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1200" dirty="0"/>
          </a:p>
        </p:txBody>
      </p:sp>
      <p:sp>
        <p:nvSpPr>
          <p:cNvPr id="42" name="Shape 33"/>
          <p:cNvSpPr/>
          <p:nvPr/>
        </p:nvSpPr>
        <p:spPr>
          <a:xfrm>
            <a:off x="6793992" y="2770632"/>
            <a:ext cx="1920240" cy="1463040"/>
          </a:xfrm>
          <a:prstGeom prst="rect">
            <a:avLst/>
          </a:prstGeom>
          <a:solidFill>
            <a:srgbClr val="4E342E"/>
          </a:solidFill>
          <a:ln w="12700">
            <a:solidFill>
              <a:srgbClr val="4E342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3" name="Shape 34"/>
          <p:cNvSpPr/>
          <p:nvPr/>
        </p:nvSpPr>
        <p:spPr>
          <a:xfrm>
            <a:off x="6793992" y="2770632"/>
            <a:ext cx="384048" cy="2743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4" name="Text 35"/>
          <p:cNvSpPr/>
          <p:nvPr/>
        </p:nvSpPr>
        <p:spPr>
          <a:xfrm>
            <a:off x="6793992" y="2770632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pic>
        <p:nvPicPr>
          <p:cNvPr id="4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07224" y="2953512"/>
            <a:ext cx="502920" cy="502920"/>
          </a:xfrm>
          <a:prstGeom prst="rect">
            <a:avLst/>
          </a:prstGeom>
        </p:spPr>
      </p:pic>
      <p:sp>
        <p:nvSpPr>
          <p:cNvPr id="46" name="Text 36"/>
          <p:cNvSpPr/>
          <p:nvPr/>
        </p:nvSpPr>
        <p:spPr>
          <a:xfrm>
            <a:off x="6867144" y="3575304"/>
            <a:ext cx="17739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Runbook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</a:t>
            </a:r>
            <a:endParaRPr lang="en-US" sz="1200" dirty="0"/>
          </a:p>
        </p:txBody>
      </p:sp>
      <p:sp>
        <p:nvSpPr>
          <p:cNvPr id="47" name="Text 37"/>
          <p:cNvSpPr/>
          <p:nvPr/>
        </p:nvSpPr>
        <p:spPr>
          <a:xfrm>
            <a:off x="411480" y="4919472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Migration System  |  Solution Overview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2377440" cy="5024628"/>
          </a:xfrm>
          <a:prstGeom prst="rect">
            <a:avLst/>
          </a:prstGeom>
          <a:solidFill>
            <a:srgbClr val="0D2137"/>
          </a:solidFill>
          <a:ln w="6350">
            <a:solidFill>
              <a:srgbClr val="1C3F5E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502920"/>
            <a:ext cx="749808" cy="7498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13258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91440" y="17373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Pre-Migration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274320" y="2633472"/>
            <a:ext cx="1828800" cy="0"/>
          </a:xfrm>
          <a:prstGeom prst="line">
            <a:avLst/>
          </a:prstGeom>
          <a:noFill/>
          <a:ln w="6350">
            <a:solidFill>
              <a:srgbClr val="2E609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" y="2706624"/>
            <a:ext cx="21945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&amp;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91440" y="361188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91440" y="37947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3–4 Weeks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91440" y="406908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manual discovery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91440" y="42976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Hours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2542032" y="164592"/>
            <a:ext cx="6190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01 — Pre-Migration Discovery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2542032" y="649224"/>
            <a:ext cx="6190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Skills, Inputs, Outputs &amp; Integration Points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2542032" y="932688"/>
            <a:ext cx="6190488" cy="0"/>
          </a:xfrm>
          <a:prstGeom prst="line">
            <a:avLst/>
          </a:prstGeom>
          <a:noFill/>
          <a:ln w="6350">
            <a:solidFill>
              <a:srgbClr val="1C3F5E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542032" y="1097280"/>
            <a:ext cx="3127248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2542032" y="1097280"/>
            <a:ext cx="64008" cy="15087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108960" y="1188720"/>
            <a:ext cx="244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&amp; Account Inventory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3108960" y="1481328"/>
            <a:ext cx="2441448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enumeration of all Safes, accounts, platforms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PACLI fallback for legacy vault access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CPM plugin identification &amp; classification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833872" y="1097280"/>
            <a:ext cx="3127248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5833872" y="1097280"/>
            <a:ext cx="64008" cy="15087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400800" y="1188720"/>
            <a:ext cx="244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Graph Builder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6400800" y="1481328"/>
            <a:ext cx="2441448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all CCP/AIM consumer applications via log analysis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IIS request log parsing for PVWA API consumers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traffic analysis to surface undocumented integrations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2542032" y="2788920"/>
            <a:ext cx="3127248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2542032" y="2788920"/>
            <a:ext cx="64008" cy="15087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108960" y="2880360"/>
            <a:ext cx="244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Manifest Generator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3108960" y="3172968"/>
            <a:ext cx="2441448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structured JSON migration manifest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custom plugins requiring rebuild vs. marketplace match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Estimates migration effort per batch by complexity score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5833872" y="2788920"/>
            <a:ext cx="3127248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5833872" y="2788920"/>
            <a:ext cx="64008" cy="15087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400800" y="2880360"/>
            <a:ext cx="244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 Detector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6400800" y="3172968"/>
            <a:ext cx="2441448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duplicate account names across Safes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orphaned accounts with no active Safe membership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accounts on exception lists or with non-standard rotation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2542032" y="4553712"/>
            <a:ext cx="6419088" cy="347472"/>
          </a:xfrm>
          <a:prstGeom prst="rect">
            <a:avLst/>
          </a:prstGeom>
          <a:solidFill>
            <a:srgbClr val="0D2137"/>
          </a:solidFill>
          <a:ln w="6350">
            <a:solidFill>
              <a:srgbClr val="1C3F5E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2542032" y="4553712"/>
            <a:ext cx="54864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2706624" y="455371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5559552" y="4553712"/>
            <a:ext cx="3310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CyberArk REST API, PVWA IIS logs, network syslog, PACLI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411480" y="4919472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Migration System  |  Agent 01 — Discovery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2377440" cy="5024628"/>
          </a:xfrm>
          <a:prstGeom prst="rect">
            <a:avLst/>
          </a:prstGeom>
          <a:solidFill>
            <a:srgbClr val="0D2137"/>
          </a:solidFill>
          <a:ln w="6350">
            <a:solidFill>
              <a:srgbClr val="1C3F5E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502920"/>
            <a:ext cx="749808" cy="7498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13258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91440" y="17373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Analysis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Readiness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274320" y="2633472"/>
            <a:ext cx="1828800" cy="0"/>
          </a:xfrm>
          <a:prstGeom prst="line">
            <a:avLst/>
          </a:prstGeom>
          <a:noFill/>
          <a:ln w="6350">
            <a:solidFill>
              <a:srgbClr val="2E609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" y="2706624"/>
            <a:ext cx="21945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&amp;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Compatibility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91440" y="361188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91440" y="37947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 of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91440" y="40690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mid-migration blockers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91440" y="431596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they occur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2542032" y="164592"/>
            <a:ext cx="6190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02 — Gap Analysis &amp; Readiness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2542032" y="649224"/>
            <a:ext cx="6190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compatibility, feature parity, and remediation planning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2542032" y="932688"/>
            <a:ext cx="6190488" cy="0"/>
          </a:xfrm>
          <a:prstGeom prst="line">
            <a:avLst/>
          </a:prstGeom>
          <a:noFill/>
          <a:ln w="6350">
            <a:solidFill>
              <a:srgbClr val="1C3F5E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542032" y="1097280"/>
            <a:ext cx="3127248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2542032" y="1097280"/>
            <a:ext cx="64008" cy="15087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108960" y="1188720"/>
            <a:ext cx="244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Privilege Cloud Compatibility Checker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3108960" y="1481328"/>
            <a:ext cx="2441448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Cross-references every CPM plugin vs. connector compatibility matrix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Classifies: Native Match / Marketplace Alt / Custom Rebuild Required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 Privilege Cloud catalog API for auto-match suggestions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833872" y="1097280"/>
            <a:ext cx="3127248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5833872" y="1097280"/>
            <a:ext cx="64008" cy="15087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400800" y="1188720"/>
            <a:ext cx="244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Parity Analyzer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6400800" y="1481328"/>
            <a:ext cx="2441448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on-prem features to Privilege Cloud equivalents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capabilities requiring add-on licenses (PTA, JIT, SIEM)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unsupported connection components requiring PSM rebuild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2542032" y="2788920"/>
            <a:ext cx="3127248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2542032" y="2788920"/>
            <a:ext cx="64008" cy="15087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108960" y="2880360"/>
            <a:ext cx="244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 Planner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3108960" y="3172968"/>
            <a:ext cx="2441448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prioritized task list sorted by migration-blocking severity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Estimates rebuild hours per custom plugin with complexity scoring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Jira/ServiceNow epics automatically for each remediation item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5833872" y="2788920"/>
            <a:ext cx="3127248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5833872" y="2788920"/>
            <a:ext cx="64008" cy="15087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400800" y="2880360"/>
            <a:ext cx="244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 Scorer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6400800" y="3172968"/>
            <a:ext cx="2441448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0–100 readiness score per Safe batch before migration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Gates migration start: blocks batches below configurable threshold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 stakeholder notification when readiness drops below SLA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2542032" y="4553712"/>
            <a:ext cx="6419088" cy="347472"/>
          </a:xfrm>
          <a:prstGeom prst="rect">
            <a:avLst/>
          </a:prstGeom>
          <a:solidFill>
            <a:srgbClr val="0D2137"/>
          </a:solidFill>
          <a:ln w="6350">
            <a:solidFill>
              <a:srgbClr val="1C3F5E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2542032" y="4553712"/>
            <a:ext cx="54864" cy="34747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2706624" y="455371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5559552" y="4553712"/>
            <a:ext cx="3310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Compatibility report, remediation backlog (Jira/ServiceNow), readiness scorecard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411480" y="4919472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Migration System  |  Agent 02 — Gap Analysis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2377440" cy="5024628"/>
          </a:xfrm>
          <a:prstGeom prst="rect">
            <a:avLst/>
          </a:prstGeom>
          <a:solidFill>
            <a:srgbClr val="0D2137"/>
          </a:solidFill>
          <a:ln w="6350">
            <a:solidFill>
              <a:srgbClr val="1C3F5E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502920"/>
            <a:ext cx="749808" cy="7498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13258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91440" y="17373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274320" y="2633472"/>
            <a:ext cx="1828800" cy="0"/>
          </a:xfrm>
          <a:prstGeom prst="line">
            <a:avLst/>
          </a:prstGeom>
          <a:noFill/>
          <a:ln w="6350">
            <a:solidFill>
              <a:srgbClr val="2E609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" y="2706624"/>
            <a:ext cx="21945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14-to-4 Tier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Zero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Overprivilege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91440" y="361188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91440" y="37947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→ 4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91440" y="406908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 tiers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91440" y="431596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over-provision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2542032" y="164592"/>
            <a:ext cx="6190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03 — Permission Mapping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2542032" y="649224"/>
            <a:ext cx="6190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Translates CyberArk's granular Safe permissions to Privilege Cloud role model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2542032" y="932688"/>
            <a:ext cx="6190488" cy="0"/>
          </a:xfrm>
          <a:prstGeom prst="line">
            <a:avLst/>
          </a:prstGeom>
          <a:noFill/>
          <a:ln w="6350">
            <a:solidFill>
              <a:srgbClr val="1C3F5E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542032" y="1097280"/>
            <a:ext cx="3127248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2542032" y="1097280"/>
            <a:ext cx="64008" cy="15087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108960" y="1188720"/>
            <a:ext cx="244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 Translation Engine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3108960" y="1481328"/>
            <a:ext cx="2441448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configurable ruleset: ManageSafe+Members → Owner; RetrieveAccounts → View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edge cases: users with UseAccounts only, mixed add/retrieve combos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per-user, per-Safe permission assignment import file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833872" y="1097280"/>
            <a:ext cx="3127248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5833872" y="1097280"/>
            <a:ext cx="64008" cy="15087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400800" y="1188720"/>
            <a:ext cx="244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Over-Privilege Detector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6400800" y="1481328"/>
            <a:ext cx="2441448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any mapping that would result in higher access than source system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least-privilege recommendations for each ambiguous case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flagged accounts in a human-review queue before import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2542032" y="2788920"/>
            <a:ext cx="3127248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2542032" y="2788920"/>
            <a:ext cx="64008" cy="15087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108960" y="2880360"/>
            <a:ext cx="244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Group Mapper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3108960" y="3172968"/>
            <a:ext cx="2441448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CyberArk AD group memberships to Privilege Cloud roles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Reconciles Entra ID group structure against Safe membership patterns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SCIM-ready group assignments for automated provisioning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5833872" y="2788920"/>
            <a:ext cx="3127248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5833872" y="2788920"/>
            <a:ext cx="64008" cy="15087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400800" y="2880360"/>
            <a:ext cx="244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Certification Reporter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6400800" y="3172968"/>
            <a:ext cx="2441448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pre/post permission comparison report per user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audit evidence: 'User X had Y in CyberArk; mapped to Z in Privilege Cloud'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Formats output for SOX/HIPAA access certification requirements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2542032" y="4553712"/>
            <a:ext cx="6419088" cy="347472"/>
          </a:xfrm>
          <a:prstGeom prst="rect">
            <a:avLst/>
          </a:prstGeom>
          <a:solidFill>
            <a:srgbClr val="0D2137"/>
          </a:solidFill>
          <a:ln w="6350">
            <a:solidFill>
              <a:srgbClr val="1C3F5E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2542032" y="4553712"/>
            <a:ext cx="54864" cy="347472"/>
          </a:xfrm>
          <a:prstGeom prst="rect">
            <a:avLst/>
          </a:prstGeom>
          <a:solidFill>
            <a:srgbClr val="EF233C"/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2706624" y="455371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Mitigated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5559552" y="4553712"/>
            <a:ext cx="3310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Over-provisioned access during migration — the #1 security risk in PAM transitions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411480" y="4919472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Migration System  |  Agent 03 — Permission Mapping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2377440" cy="5024628"/>
          </a:xfrm>
          <a:prstGeom prst="rect">
            <a:avLst/>
          </a:prstGeom>
          <a:solidFill>
            <a:srgbClr val="0D2137"/>
          </a:solidFill>
          <a:ln w="6350">
            <a:solidFill>
              <a:srgbClr val="1C3F5E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502920"/>
            <a:ext cx="749808" cy="7498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13258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91440" y="17373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274320" y="2633472"/>
            <a:ext cx="1828800" cy="0"/>
          </a:xfrm>
          <a:prstGeom prst="line">
            <a:avLst/>
          </a:prstGeom>
          <a:noFill/>
          <a:ln w="6350">
            <a:solidFill>
              <a:srgbClr val="2E609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" y="2706624"/>
            <a:ext cx="21945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Unattended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91440" y="361188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91440" y="37947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Overnight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91440" y="40690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engineer attendance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91440" y="431596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2542032" y="164592"/>
            <a:ext cx="6190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04 — Migration Orchestration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2542032" y="649224"/>
            <a:ext cx="6190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execution engine — freeze, export, transform, import, validate, notify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2542032" y="932688"/>
            <a:ext cx="6190488" cy="0"/>
          </a:xfrm>
          <a:prstGeom prst="line">
            <a:avLst/>
          </a:prstGeom>
          <a:noFill/>
          <a:ln w="6350">
            <a:solidFill>
              <a:srgbClr val="1C3F5E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542032" y="1097280"/>
            <a:ext cx="3127248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2542032" y="1097280"/>
            <a:ext cx="64008" cy="15087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108960" y="1188720"/>
            <a:ext cx="244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Pipeline Manager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3108960" y="1481328"/>
            <a:ext cx="2441448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 full ETL: Freeze Safe → Export via API → Transform → Import → Validate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Enforces 2-hour pre-export freeze window with Safe lock enforcement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batch sequencing, dependency ordering, and retry logic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833872" y="1097280"/>
            <a:ext cx="3127248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5833872" y="1097280"/>
            <a:ext cx="64008" cy="15087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400800" y="1188720"/>
            <a:ext cx="244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Transformation Engine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6400800" y="1481328"/>
            <a:ext cx="2441448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CyberArk export format to Privilege Cloud import schema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platform name mapping, Safe→folder hierarchy construction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Strips unsupported metadata, preserves all required account fields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2542032" y="2788920"/>
            <a:ext cx="3127248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2542032" y="2788920"/>
            <a:ext cx="64008" cy="15087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108960" y="2880360"/>
            <a:ext cx="244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ITSM Integration Layer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3108960" y="3172968"/>
            <a:ext cx="2441448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Auto-creates ServiceNow/Jira change records per migration batch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 tickets with real-time pass/fail counts as batches execute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Escalates tickets on failure; closes with evidence summary on success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5833872" y="2788920"/>
            <a:ext cx="3127248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5833872" y="2788920"/>
            <a:ext cx="64008" cy="15087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400800" y="2880360"/>
            <a:ext cx="244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 Controller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6400800" y="3172968"/>
            <a:ext cx="2441448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Monitors failure rate threshold continuously during execution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 automatic rollback if failure rate exceeds configurable limit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Preserves pre-migration snapshot for clean rollback at any phase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2542032" y="4553712"/>
            <a:ext cx="6419088" cy="347472"/>
          </a:xfrm>
          <a:prstGeom prst="rect">
            <a:avLst/>
          </a:prstGeom>
          <a:solidFill>
            <a:srgbClr val="0D2137"/>
          </a:solidFill>
          <a:ln w="6350">
            <a:solidFill>
              <a:srgbClr val="1C3F5E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2542032" y="4553712"/>
            <a:ext cx="54864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2706624" y="455371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Benefit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5559552" y="4553712"/>
            <a:ext cx="3310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 review morning dashboards — not babysit 2AM batch windows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411480" y="4919472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Migration System  |  Agent 04 — Orchestration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2377440" cy="5024628"/>
          </a:xfrm>
          <a:prstGeom prst="rect">
            <a:avLst/>
          </a:prstGeom>
          <a:solidFill>
            <a:srgbClr val="0D2137"/>
          </a:solidFill>
          <a:ln w="6350">
            <a:solidFill>
              <a:srgbClr val="1C3F5E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502920"/>
            <a:ext cx="749808" cy="7498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13258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91440" y="1719072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Heartbeat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&amp;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274320" y="2651760"/>
            <a:ext cx="1828800" cy="0"/>
          </a:xfrm>
          <a:prstGeom prst="line">
            <a:avLst/>
          </a:prstGeom>
          <a:noFill/>
          <a:ln w="6350">
            <a:solidFill>
              <a:srgbClr val="2E609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" y="2724912"/>
            <a:ext cx="21945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91440" y="361188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91440" y="37947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99%+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91440" y="40690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Heartbeat pass rate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91440" y="431596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post-migration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2542032" y="164592"/>
            <a:ext cx="6190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05 — Heartbeat Monitoring &amp; Remediation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2542032" y="649224"/>
            <a:ext cx="6190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Post-import credential health — detect, diagnose, and auto-remediate failures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2542032" y="932688"/>
            <a:ext cx="6190488" cy="0"/>
          </a:xfrm>
          <a:prstGeom prst="line">
            <a:avLst/>
          </a:prstGeom>
          <a:noFill/>
          <a:ln w="6350">
            <a:solidFill>
              <a:srgbClr val="1C3F5E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542032" y="1097280"/>
            <a:ext cx="3127248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2542032" y="1097280"/>
            <a:ext cx="64008" cy="15087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108960" y="1188720"/>
            <a:ext cx="244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Heartbeat Poller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3108960" y="1481328"/>
            <a:ext cx="2441448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Schedules and executes bulk Heartbeat checks via PowerShell + Privilege Cloud API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Maintains live health dashboard per Safe, platform, and account type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 immediate re-check after any account modification event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833872" y="1097280"/>
            <a:ext cx="3127248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5833872" y="1097280"/>
            <a:ext cx="64008" cy="15087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400800" y="1188720"/>
            <a:ext cx="244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Root Cause Classifier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6400800" y="1481328"/>
            <a:ext cx="2441448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Classifies failures: wrong password, unreachable target, missing reconcile account, platform mismatch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ML-pattern matching against known failure signatures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Assigns auto-remediation category or escalation path per failure type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2542032" y="2788920"/>
            <a:ext cx="3127248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2542032" y="2788920"/>
            <a:ext cx="64008" cy="15087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108960" y="2880360"/>
            <a:ext cx="244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Auto-Remediation Engine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3108960" y="3172968"/>
            <a:ext cx="2441448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Fixes known patterns automatically: missing reconcile account, wrong platform assignment, network path issues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Re-triggers password change for failed rotation accounts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fix and updates Heartbeat status — closes ticket on success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5833872" y="2788920"/>
            <a:ext cx="3127248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5833872" y="2788920"/>
            <a:ext cx="64008" cy="15087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400800" y="2880360"/>
            <a:ext cx="244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Tracker &amp; Alerting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6400800" y="3172968"/>
            <a:ext cx="2441448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Enforces 4-hour SLA on unresolved failures — auto-escalates to on-call team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Slack/Teams/email alerts with pre-populated diagnosis and fix steps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daily health digest report for migration lead and stakeholders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2542032" y="4553712"/>
            <a:ext cx="6419088" cy="347472"/>
          </a:xfrm>
          <a:prstGeom prst="rect">
            <a:avLst/>
          </a:prstGeom>
          <a:solidFill>
            <a:srgbClr val="0D2137"/>
          </a:solidFill>
          <a:ln w="6350">
            <a:solidFill>
              <a:srgbClr val="1C3F5E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2542032" y="4553712"/>
            <a:ext cx="54864" cy="34747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2706624" y="455371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5559552" y="4553712"/>
            <a:ext cx="3310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firefighting → managed, prioritized remediation queue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411480" y="4919472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Migration System  |  Agent 05 — Heartbeat Monitoring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2377440" cy="5024628"/>
          </a:xfrm>
          <a:prstGeom prst="rect">
            <a:avLst/>
          </a:prstGeom>
          <a:solidFill>
            <a:srgbClr val="0D2137"/>
          </a:solidFill>
          <a:ln w="6350">
            <a:solidFill>
              <a:srgbClr val="1C3F5E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502920"/>
            <a:ext cx="749808" cy="7498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13258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91440" y="17373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274320" y="2633472"/>
            <a:ext cx="1828800" cy="0"/>
          </a:xfrm>
          <a:prstGeom prst="line">
            <a:avLst/>
          </a:prstGeom>
          <a:noFill/>
          <a:ln w="6350">
            <a:solidFill>
              <a:srgbClr val="2E609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" y="2706624"/>
            <a:ext cx="21945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Sanity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Checking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91440" y="361188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91440" y="37947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91440" y="406908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CCP failures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91440" y="431596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app owners notice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2542032" y="164592"/>
            <a:ext cx="6190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06 — Integration Validation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2542032" y="649224"/>
            <a:ext cx="6190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every downstream consumer after cutover — before anyone notices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2542032" y="932688"/>
            <a:ext cx="6190488" cy="0"/>
          </a:xfrm>
          <a:prstGeom prst="line">
            <a:avLst/>
          </a:prstGeom>
          <a:noFill/>
          <a:ln w="6350">
            <a:solidFill>
              <a:srgbClr val="1C3F5E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542032" y="1097280"/>
            <a:ext cx="3127248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2542032" y="1097280"/>
            <a:ext cx="64008" cy="15087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108960" y="1188720"/>
            <a:ext cx="244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CCP/Credential Provider Tester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3108960" y="1481328"/>
            <a:ext cx="2441448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Simulates real credential retrieval calls from each consumer application endpoint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App ID, Safe, account, and password retrieval against new Privilege Cloud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both REST API and SDK retrieval patterns for each integration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833872" y="1097280"/>
            <a:ext cx="3127248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5833872" y="1097280"/>
            <a:ext cx="64008" cy="15087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400800" y="1188720"/>
            <a:ext cx="244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PSM Session Launch Validator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6400800" y="1481328"/>
            <a:ext cx="2441448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RDP, SSH, Web, and database connection components post-migration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session recording storage write path on new connector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dual-control workflow triggers correctly for restricted accounts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2542032" y="2788920"/>
            <a:ext cx="3127248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2542032" y="2788920"/>
            <a:ext cx="64008" cy="15087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108960" y="2880360"/>
            <a:ext cx="244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 Log Flow Monitor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3108960" y="3172968"/>
            <a:ext cx="2441448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Verifies syslog/event forwarding from Privilege Cloud reaches SIEM (Splunk, Graylog)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audit event format compatibility and field mapping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if log volume drops below baseline within 24hrs of cutover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5833872" y="2788920"/>
            <a:ext cx="3127248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5833872" y="2788920"/>
            <a:ext cx="64008" cy="15087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400800" y="2880360"/>
            <a:ext cx="244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Consumer Inventory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6400800" y="3172968"/>
            <a:ext cx="2441448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Monitors Privilege Cloud API call logs post-cutover for new consumer fingerprints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integration consumers not in original discovery manifest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auto-discovery tickets for uncatalogued integrations requiring validation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2542032" y="4553712"/>
            <a:ext cx="6419088" cy="347472"/>
          </a:xfrm>
          <a:prstGeom prst="rect">
            <a:avLst/>
          </a:prstGeom>
          <a:solidFill>
            <a:srgbClr val="0D2137"/>
          </a:solidFill>
          <a:ln w="6350">
            <a:solidFill>
              <a:srgbClr val="1C3F5E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2542032" y="4553712"/>
            <a:ext cx="54864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2706624" y="455371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5559552" y="4553712"/>
            <a:ext cx="3310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CCP, PSM, PSMP, SIEM, ITSM, Ansible/Terraform, Active Directory, API consumers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411480" y="4919472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Migration System  |  Agent 06 — Integration Validation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2377440" cy="5024628"/>
          </a:xfrm>
          <a:prstGeom prst="rect">
            <a:avLst/>
          </a:prstGeom>
          <a:solidFill>
            <a:srgbClr val="0D2137"/>
          </a:solidFill>
          <a:ln w="6350">
            <a:solidFill>
              <a:srgbClr val="1C3F5E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502920"/>
            <a:ext cx="749808" cy="7498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13258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91440" y="16916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&amp;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274320" y="2670048"/>
            <a:ext cx="1828800" cy="0"/>
          </a:xfrm>
          <a:prstGeom prst="line">
            <a:avLst/>
          </a:prstGeom>
          <a:noFill/>
          <a:ln w="6350">
            <a:solidFill>
              <a:srgbClr val="2E609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" y="2743200"/>
            <a:ext cx="21945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Evidence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Packaging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91440" y="361188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91440" y="3794760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HIPAA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PCI-DSS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SOX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2542032" y="164592"/>
            <a:ext cx="6190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07 — Compliance &amp; Audit Documentation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2542032" y="649224"/>
            <a:ext cx="6190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Auto-generates timestamped evidence packages throughout the migration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2542032" y="932688"/>
            <a:ext cx="6190488" cy="0"/>
          </a:xfrm>
          <a:prstGeom prst="line">
            <a:avLst/>
          </a:prstGeom>
          <a:noFill/>
          <a:ln w="6350">
            <a:solidFill>
              <a:srgbClr val="1C3F5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542032" y="1097280"/>
            <a:ext cx="3127248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2542032" y="1097280"/>
            <a:ext cx="64008" cy="15087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108960" y="1188720"/>
            <a:ext cx="244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Action Logger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108960" y="1481328"/>
            <a:ext cx="2441448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Timestamps every agent action: who triggered, what changed, when, and the result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append-only log format aligned with audit evidence standards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both automated agent actions and human approval decisions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833872" y="1097280"/>
            <a:ext cx="3127248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5833872" y="1097280"/>
            <a:ext cx="64008" cy="15087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00800" y="1188720"/>
            <a:ext cx="244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Package Generator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400800" y="1481328"/>
            <a:ext cx="2441448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audit-ready PDF/docx evidence packages on demand per control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Formats output for HIPAA Security Rule §164.312 access control requirements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PCI-DSS 8.3 privileged access evidence without manual compilation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2542032" y="2788920"/>
            <a:ext cx="3127248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2542032" y="2788920"/>
            <a:ext cx="64008" cy="15087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108960" y="2880360"/>
            <a:ext cx="244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Dual-System Coverage Reporter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3108960" y="3172968"/>
            <a:ext cx="2441448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parallel operation period: which accounts active where, and when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auditors with clear 'no gap' narrative for control continuity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any period where an account had no active PAM coverage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5833872" y="2788920"/>
            <a:ext cx="3127248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5833872" y="2788920"/>
            <a:ext cx="64008" cy="15087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400800" y="2880360"/>
            <a:ext cx="244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 Change Tracker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6400800" y="3172968"/>
            <a:ext cx="2441448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before/after access comparison for every user in scope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Auto-generates access certification sign-off packages per business unit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all exceptions and manual overrides with justification captured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2542032" y="4553712"/>
            <a:ext cx="6419088" cy="347472"/>
          </a:xfrm>
          <a:prstGeom prst="rect">
            <a:avLst/>
          </a:prstGeom>
          <a:solidFill>
            <a:srgbClr val="0D2137"/>
          </a:solidFill>
          <a:ln w="6350">
            <a:solidFill>
              <a:srgbClr val="1C3F5E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2542032" y="4553712"/>
            <a:ext cx="54864" cy="34747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2706624" y="455371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Solves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5559552" y="4553712"/>
            <a:ext cx="3310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#1 compliance risk: audit evidence gaps during the parallel-run transition period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411480" y="4919472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Migration System  |  Agent 07 — Compliance Documentation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2377440" cy="5024628"/>
          </a:xfrm>
          <a:prstGeom prst="rect">
            <a:avLst/>
          </a:prstGeom>
          <a:solidFill>
            <a:srgbClr val="0D2137"/>
          </a:solidFill>
          <a:ln w="6350">
            <a:solidFill>
              <a:srgbClr val="1C3F5E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502920"/>
            <a:ext cx="749808" cy="7498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13258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91440" y="17373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Runbook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274320" y="2633472"/>
            <a:ext cx="1828800" cy="0"/>
          </a:xfrm>
          <a:prstGeom prst="line">
            <a:avLst/>
          </a:prstGeom>
          <a:noFill/>
          <a:ln w="6350">
            <a:solidFill>
              <a:srgbClr val="2E609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" y="2706624"/>
            <a:ext cx="21945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Procedural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Human-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in-the-Loop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91440" y="361188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91440" y="37947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91440" y="40690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manual checklist errors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91440" y="431596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2AM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2542032" y="164592"/>
            <a:ext cx="6190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08 — Runbook Execution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2542032" y="649224"/>
            <a:ext cx="6190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40-step maintenance checklists into supervised automated workflows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2542032" y="932688"/>
            <a:ext cx="6190488" cy="0"/>
          </a:xfrm>
          <a:prstGeom prst="line">
            <a:avLst/>
          </a:prstGeom>
          <a:noFill/>
          <a:ln w="6350">
            <a:solidFill>
              <a:srgbClr val="1C3F5E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542032" y="1097280"/>
            <a:ext cx="3127248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2542032" y="1097280"/>
            <a:ext cx="64008" cy="15087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108960" y="1188720"/>
            <a:ext cx="244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Runbook Parser &amp; Executor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3108960" y="1481328"/>
            <a:ext cx="2441448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markdown/Word runbooks into executable step sequences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Auto-executes low-risk steps; pauses for human approval on high-risk actions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conditional branching: 'if Heartbeat fail rate &gt; 5%, trigger rollback path'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833872" y="1097280"/>
            <a:ext cx="3127248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5833872" y="1097280"/>
            <a:ext cx="64008" cy="15087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400800" y="1188720"/>
            <a:ext cx="244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Controller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6400800" y="1481328"/>
            <a:ext cx="2441448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confirmation requests via Slack/Teams for gated steps (Safe freeze, DNS cutover)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digital approvals with timestamp and approver identity for audit trail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 out unresponded gates and escalates to backup approver automatically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2542032" y="2788920"/>
            <a:ext cx="3127248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2542032" y="2788920"/>
            <a:ext cx="64008" cy="15087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108960" y="2880360"/>
            <a:ext cx="244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Recovery Advisor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3108960" y="3172968"/>
            <a:ext cx="2441448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step fails, queries knowledge base for known-issue resolutions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Presents engineer with pre-ranked fix options, confidence scores, and estimated time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from resolution patterns — improves suggestions over successive migration batches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5833872" y="2788920"/>
            <a:ext cx="3127248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5833872" y="2788920"/>
            <a:ext cx="64008" cy="15087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400800" y="2880360"/>
            <a:ext cx="244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Log &amp; Evidence Capture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6400800" y="3172968"/>
            <a:ext cx="2441448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every executed step, output, duration, and approver to immutable log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 PVWA/portal state before and after critical steps for visual evidence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Publishes step-level completion report to ITSM change record automatically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2542032" y="4553712"/>
            <a:ext cx="6419088" cy="347472"/>
          </a:xfrm>
          <a:prstGeom prst="rect">
            <a:avLst/>
          </a:prstGeom>
          <a:solidFill>
            <a:srgbClr val="0D2137"/>
          </a:solidFill>
          <a:ln w="6350">
            <a:solidFill>
              <a:srgbClr val="1C3F5E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2542032" y="4553712"/>
            <a:ext cx="54864" cy="347472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2706624" y="455371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Benefit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5559552" y="4553712"/>
            <a:ext cx="3310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 confirm, not execute — human judgment at decision gates, automation everywhere else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411480" y="4919472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Migration System  |  Agent 08 — Runbook Execution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2E6096"/>
          </a:solidFill>
          <a:ln w="12700">
            <a:solidFill>
              <a:srgbClr val="2E60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11480" y="649224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coordinator with tool access layers and human escalation paths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932688"/>
            <a:ext cx="832104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051560"/>
            <a:ext cx="8595360" cy="29260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051560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COORDINATOR LAYER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1865376"/>
            <a:ext cx="8595360" cy="292608"/>
          </a:xfrm>
          <a:prstGeom prst="rect">
            <a:avLst/>
          </a:prstGeom>
          <a:solidFill>
            <a:srgbClr val="2E6096"/>
          </a:solidFill>
          <a:ln w="12700">
            <a:solidFill>
              <a:srgbClr val="2E60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865376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SPECIALIZED AGENT LAYER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" y="3127248"/>
            <a:ext cx="8595360" cy="292608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312724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/ API ACCESS LAYER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4320" y="4224528"/>
            <a:ext cx="8595360" cy="292608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422452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INFRASTRUCTURE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00400" y="1371600"/>
            <a:ext cx="2743200" cy="438912"/>
          </a:xfrm>
          <a:prstGeom prst="rect">
            <a:avLst/>
          </a:prstGeom>
          <a:solidFill>
            <a:srgbClr val="0A1628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64992" y="1435608"/>
            <a:ext cx="274320" cy="27432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3694176" y="143560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Coordinator Agent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3200400" y="1700784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 |  Planning  |  Escalation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320040" y="2176272"/>
            <a:ext cx="960120" cy="877824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320040" y="2176272"/>
            <a:ext cx="9601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Disc.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1389888" y="2176272"/>
            <a:ext cx="960120" cy="87782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1389888" y="2176272"/>
            <a:ext cx="9601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2459736" y="2176272"/>
            <a:ext cx="960120" cy="877824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2459736" y="2176272"/>
            <a:ext cx="9601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Perm.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3529584" y="2176272"/>
            <a:ext cx="960120" cy="877824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3529584" y="2176272"/>
            <a:ext cx="9601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Orch.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4599432" y="2176272"/>
            <a:ext cx="960120" cy="877824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4599432" y="2176272"/>
            <a:ext cx="9601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Hbeat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5669280" y="2176272"/>
            <a:ext cx="960120" cy="877824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5669280" y="2176272"/>
            <a:ext cx="9601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Integ.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6739128" y="2176272"/>
            <a:ext cx="960120" cy="87782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6739128" y="2176272"/>
            <a:ext cx="9601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Comp.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7808976" y="2176272"/>
            <a:ext cx="960120" cy="877824"/>
          </a:xfrm>
          <a:prstGeom prst="rect">
            <a:avLst/>
          </a:prstGeom>
          <a:solidFill>
            <a:srgbClr val="4E342E"/>
          </a:solidFill>
          <a:ln w="12700">
            <a:solidFill>
              <a:srgbClr val="4E342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4" name="Text 31"/>
          <p:cNvSpPr/>
          <p:nvPr/>
        </p:nvSpPr>
        <p:spPr>
          <a:xfrm>
            <a:off x="7808976" y="2176272"/>
            <a:ext cx="9601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Rnbk.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320040" y="3438144"/>
            <a:ext cx="1261872" cy="685800"/>
          </a:xfrm>
          <a:prstGeom prst="rect">
            <a:avLst/>
          </a:prstGeom>
          <a:solidFill>
            <a:srgbClr val="1A237E"/>
          </a:solidFill>
          <a:ln w="63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6" name="Text 33"/>
          <p:cNvSpPr/>
          <p:nvPr/>
        </p:nvSpPr>
        <p:spPr>
          <a:xfrm>
            <a:off x="320040" y="3438144"/>
            <a:ext cx="12618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CyberArk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1755648" y="3438144"/>
            <a:ext cx="1261872" cy="685800"/>
          </a:xfrm>
          <a:prstGeom prst="rect">
            <a:avLst/>
          </a:prstGeom>
          <a:solidFill>
            <a:srgbClr val="1B5E20"/>
          </a:solidFill>
          <a:ln w="63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8" name="Text 35"/>
          <p:cNvSpPr/>
          <p:nvPr/>
        </p:nvSpPr>
        <p:spPr>
          <a:xfrm>
            <a:off x="1755648" y="3438144"/>
            <a:ext cx="12618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Privilege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API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3191256" y="3438144"/>
            <a:ext cx="1261872" cy="685800"/>
          </a:xfrm>
          <a:prstGeom prst="rect">
            <a:avLst/>
          </a:prstGeom>
          <a:solidFill>
            <a:srgbClr val="880E4F"/>
          </a:solidFill>
          <a:ln w="63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0" name="Text 37"/>
          <p:cNvSpPr/>
          <p:nvPr/>
        </p:nvSpPr>
        <p:spPr>
          <a:xfrm>
            <a:off x="3191256" y="3438144"/>
            <a:ext cx="12618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Jira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4626864" y="3438144"/>
            <a:ext cx="1261872" cy="685800"/>
          </a:xfrm>
          <a:prstGeom prst="rect">
            <a:avLst/>
          </a:prstGeom>
          <a:solidFill>
            <a:srgbClr val="E65100"/>
          </a:solidFill>
          <a:ln w="63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2" name="Text 39"/>
          <p:cNvSpPr/>
          <p:nvPr/>
        </p:nvSpPr>
        <p:spPr>
          <a:xfrm>
            <a:off x="4626864" y="3438144"/>
            <a:ext cx="12618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Splunk /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Graylog</a:t>
            </a:r>
            <a:endParaRPr lang="en-US" sz="900" dirty="0"/>
          </a:p>
        </p:txBody>
      </p:sp>
      <p:sp>
        <p:nvSpPr>
          <p:cNvPr id="43" name="Shape 40"/>
          <p:cNvSpPr/>
          <p:nvPr/>
        </p:nvSpPr>
        <p:spPr>
          <a:xfrm>
            <a:off x="6062472" y="3438144"/>
            <a:ext cx="1261872" cy="685800"/>
          </a:xfrm>
          <a:prstGeom prst="rect">
            <a:avLst/>
          </a:prstGeom>
          <a:solidFill>
            <a:srgbClr val="006064"/>
          </a:solidFill>
          <a:ln w="63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4" name="Text 41"/>
          <p:cNvSpPr/>
          <p:nvPr/>
        </p:nvSpPr>
        <p:spPr>
          <a:xfrm>
            <a:off x="6062472" y="3438144"/>
            <a:ext cx="12618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ID /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API</a:t>
            </a:r>
            <a:endParaRPr lang="en-US" sz="900" dirty="0"/>
          </a:p>
        </p:txBody>
      </p:sp>
      <p:sp>
        <p:nvSpPr>
          <p:cNvPr id="45" name="Shape 42"/>
          <p:cNvSpPr/>
          <p:nvPr/>
        </p:nvSpPr>
        <p:spPr>
          <a:xfrm>
            <a:off x="7498080" y="3438144"/>
            <a:ext cx="1261872" cy="685800"/>
          </a:xfrm>
          <a:prstGeom prst="rect">
            <a:avLst/>
          </a:prstGeom>
          <a:solidFill>
            <a:srgbClr val="4A148C"/>
          </a:solidFill>
          <a:ln w="63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6" name="Text 43"/>
          <p:cNvSpPr/>
          <p:nvPr/>
        </p:nvSpPr>
        <p:spPr>
          <a:xfrm>
            <a:off x="7498080" y="3438144"/>
            <a:ext cx="12618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PowerShell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</a:t>
            </a:r>
            <a:endParaRPr lang="en-US" sz="900" dirty="0"/>
          </a:p>
        </p:txBody>
      </p:sp>
      <p:sp>
        <p:nvSpPr>
          <p:cNvPr id="47" name="Shape 44"/>
          <p:cNvSpPr/>
          <p:nvPr/>
        </p:nvSpPr>
        <p:spPr>
          <a:xfrm>
            <a:off x="384048" y="4535424"/>
            <a:ext cx="1508760" cy="347472"/>
          </a:xfrm>
          <a:prstGeom prst="rect">
            <a:avLst/>
          </a:prstGeom>
          <a:solidFill>
            <a:srgbClr val="2E7D32"/>
          </a:solidFill>
          <a:ln w="9525">
            <a:solidFill>
              <a:srgbClr val="06D6A0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384048" y="4535424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 Vault</a:t>
            </a:r>
            <a:endParaRPr lang="en-US" sz="900" dirty="0"/>
          </a:p>
        </p:txBody>
      </p:sp>
      <p:sp>
        <p:nvSpPr>
          <p:cNvPr id="49" name="Shape 46"/>
          <p:cNvSpPr/>
          <p:nvPr/>
        </p:nvSpPr>
        <p:spPr>
          <a:xfrm>
            <a:off x="2103120" y="4535424"/>
            <a:ext cx="1508760" cy="347472"/>
          </a:xfrm>
          <a:prstGeom prst="rect">
            <a:avLst/>
          </a:prstGeom>
          <a:solidFill>
            <a:srgbClr val="2E7D32"/>
          </a:solidFill>
          <a:ln w="9525">
            <a:solidFill>
              <a:srgbClr val="06D6A0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2103120" y="4535424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Privilege Cloud</a:t>
            </a:r>
            <a:endParaRPr lang="en-US" sz="900" dirty="0"/>
          </a:p>
        </p:txBody>
      </p:sp>
      <p:sp>
        <p:nvSpPr>
          <p:cNvPr id="51" name="Shape 48"/>
          <p:cNvSpPr/>
          <p:nvPr/>
        </p:nvSpPr>
        <p:spPr>
          <a:xfrm>
            <a:off x="3822192" y="4535424"/>
            <a:ext cx="1508760" cy="347472"/>
          </a:xfrm>
          <a:prstGeom prst="rect">
            <a:avLst/>
          </a:prstGeom>
          <a:solidFill>
            <a:srgbClr val="2E7D32"/>
          </a:solidFill>
          <a:ln w="9525">
            <a:solidFill>
              <a:srgbClr val="06D6A0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3822192" y="4535424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Systems</a:t>
            </a:r>
            <a:endParaRPr lang="en-US" sz="900" dirty="0"/>
          </a:p>
        </p:txBody>
      </p:sp>
      <p:sp>
        <p:nvSpPr>
          <p:cNvPr id="53" name="Shape 50"/>
          <p:cNvSpPr/>
          <p:nvPr/>
        </p:nvSpPr>
        <p:spPr>
          <a:xfrm>
            <a:off x="5541264" y="4535424"/>
            <a:ext cx="1508760" cy="347472"/>
          </a:xfrm>
          <a:prstGeom prst="rect">
            <a:avLst/>
          </a:prstGeom>
          <a:solidFill>
            <a:srgbClr val="2E7D32"/>
          </a:solidFill>
          <a:ln w="9525">
            <a:solidFill>
              <a:srgbClr val="06D6A0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5541264" y="4535424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</a:t>
            </a:r>
            <a:endParaRPr lang="en-US" sz="900" dirty="0"/>
          </a:p>
        </p:txBody>
      </p:sp>
      <p:sp>
        <p:nvSpPr>
          <p:cNvPr id="55" name="Shape 52"/>
          <p:cNvSpPr/>
          <p:nvPr/>
        </p:nvSpPr>
        <p:spPr>
          <a:xfrm>
            <a:off x="7260336" y="4535424"/>
            <a:ext cx="1508760" cy="347472"/>
          </a:xfrm>
          <a:prstGeom prst="rect">
            <a:avLst/>
          </a:prstGeom>
          <a:solidFill>
            <a:srgbClr val="2E7D32"/>
          </a:solidFill>
          <a:ln w="9525">
            <a:solidFill>
              <a:srgbClr val="06D6A0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7260336" y="4535424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ITSM Tickets</a:t>
            </a:r>
            <a:endParaRPr lang="en-US" sz="900" dirty="0"/>
          </a:p>
        </p:txBody>
      </p:sp>
      <p:sp>
        <p:nvSpPr>
          <p:cNvPr id="57" name="Shape 54"/>
          <p:cNvSpPr/>
          <p:nvPr/>
        </p:nvSpPr>
        <p:spPr>
          <a:xfrm>
            <a:off x="8613648" y="2176272"/>
            <a:ext cx="228600" cy="877824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8613648" y="2176272"/>
            <a:ext cx="2286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</a:t>
            </a:r>
            <a:endParaRPr lang="en-US" sz="600" dirty="0"/>
          </a:p>
          <a:p>
            <a:pPr algn="ctr" indent="0" marL="0">
              <a:buNone/>
            </a:pPr>
            <a:r>
              <a:rPr lang="en-US" sz="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600" dirty="0"/>
          </a:p>
          <a:p>
            <a:pPr algn="ctr" indent="0" marL="0">
              <a:buNone/>
            </a:pPr>
            <a:r>
              <a:rPr lang="en-US" sz="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</a:t>
            </a:r>
            <a:endParaRPr lang="en-US" sz="600" dirty="0"/>
          </a:p>
        </p:txBody>
      </p:sp>
      <p:sp>
        <p:nvSpPr>
          <p:cNvPr id="59" name="Text 56"/>
          <p:cNvSpPr/>
          <p:nvPr/>
        </p:nvSpPr>
        <p:spPr>
          <a:xfrm>
            <a:off x="411480" y="4919472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Migration System  |  Architecture Overview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 &amp; ROI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649224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Quantified impact across time, cost, risk, and compliance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932688"/>
            <a:ext cx="8321040" cy="0"/>
          </a:xfrm>
          <a:prstGeom prst="line">
            <a:avLst/>
          </a:prstGeom>
          <a:noFill/>
          <a:ln w="6350">
            <a:solidFill>
              <a:srgbClr val="1C3F5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078992"/>
            <a:ext cx="2606040" cy="1170432"/>
          </a:xfrm>
          <a:prstGeom prst="rect">
            <a:avLst/>
          </a:prstGeom>
          <a:solidFill>
            <a:srgbClr val="0D2137"/>
          </a:solidFill>
          <a:ln w="12700">
            <a:solidFill>
              <a:srgbClr val="1C3F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078992"/>
            <a:ext cx="73152" cy="11704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170432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~60%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594360" y="1737360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Timeline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27832" y="1078992"/>
            <a:ext cx="2606040" cy="1170432"/>
          </a:xfrm>
          <a:prstGeom prst="rect">
            <a:avLst/>
          </a:prstGeom>
          <a:solidFill>
            <a:srgbClr val="0D2137"/>
          </a:solidFill>
          <a:ln w="12700">
            <a:solidFill>
              <a:srgbClr val="1C3F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27832" y="1078992"/>
            <a:ext cx="73152" cy="117043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10712" y="1170432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~50%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3410712" y="1737360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Hours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44184" y="1078992"/>
            <a:ext cx="2606040" cy="1170432"/>
          </a:xfrm>
          <a:prstGeom prst="rect">
            <a:avLst/>
          </a:prstGeom>
          <a:solidFill>
            <a:srgbClr val="0D2137"/>
          </a:solidFill>
          <a:ln w="12700">
            <a:solidFill>
              <a:srgbClr val="1C3F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44184" y="1078992"/>
            <a:ext cx="73152" cy="1170432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27064" y="1170432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~95%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6227064" y="1737360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Errors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11480" y="2404872"/>
            <a:ext cx="2606040" cy="1170432"/>
          </a:xfrm>
          <a:prstGeom prst="rect">
            <a:avLst/>
          </a:prstGeom>
          <a:solidFill>
            <a:srgbClr val="0D2137"/>
          </a:solidFill>
          <a:ln w="12700">
            <a:solidFill>
              <a:srgbClr val="1C3F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11480" y="2404872"/>
            <a:ext cx="73152" cy="117043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2496312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594360" y="3063240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Continuity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27832" y="2404872"/>
            <a:ext cx="2606040" cy="1170432"/>
          </a:xfrm>
          <a:prstGeom prst="rect">
            <a:avLst/>
          </a:prstGeom>
          <a:solidFill>
            <a:srgbClr val="0D2137"/>
          </a:solidFill>
          <a:ln w="12700">
            <a:solidFill>
              <a:srgbClr val="1C3F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27832" y="2404872"/>
            <a:ext cx="73152" cy="11704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10712" y="2496312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3410712" y="3063240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Unattended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Execution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044184" y="2404872"/>
            <a:ext cx="2606040" cy="1170432"/>
          </a:xfrm>
          <a:prstGeom prst="rect">
            <a:avLst/>
          </a:prstGeom>
          <a:solidFill>
            <a:srgbClr val="0D2137"/>
          </a:solidFill>
          <a:ln w="12700">
            <a:solidFill>
              <a:srgbClr val="1C3F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044184" y="2404872"/>
            <a:ext cx="73152" cy="117043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27064" y="2496312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600" dirty="0"/>
          </a:p>
        </p:txBody>
      </p:sp>
      <p:sp>
        <p:nvSpPr>
          <p:cNvPr id="29" name="Text 27"/>
          <p:cNvSpPr/>
          <p:nvPr/>
        </p:nvSpPr>
        <p:spPr>
          <a:xfrm>
            <a:off x="6227064" y="3063240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Mid-Migration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Outages (Target)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11480" y="3749040"/>
            <a:ext cx="8321040" cy="566928"/>
          </a:xfrm>
          <a:prstGeom prst="rect">
            <a:avLst/>
          </a:prstGeom>
          <a:solidFill>
            <a:srgbClr val="0D2137"/>
          </a:solidFill>
          <a:ln w="12700">
            <a:solidFill>
              <a:srgbClr val="1C3F5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" y="376732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Migration: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94360" y="402336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28–40 weeks  |  1,500–2,500 eng hours  |  Compliance gaps  |  Integration outage risk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983480" y="3749040"/>
            <a:ext cx="0" cy="566928"/>
          </a:xfrm>
          <a:prstGeom prst="line">
            <a:avLst/>
          </a:prstGeom>
          <a:noFill/>
          <a:ln w="6350">
            <a:solidFill>
              <a:srgbClr val="2E609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20640" y="376732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AI System: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120640" y="402336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12–16 weeks  |  750–1,000 eng hours  |  Continuous evidence  |  Zero outage design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11480" y="4919472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Migration System  |  Business Value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2E6096"/>
          </a:solidFill>
          <a:ln w="12700">
            <a:solidFill>
              <a:srgbClr val="2E60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Roadmap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11480" y="649224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Phased delivery — production-ready in 8 weeks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932688"/>
            <a:ext cx="832104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078992"/>
            <a:ext cx="1920240" cy="358444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1480" y="1078992"/>
            <a:ext cx="1920240" cy="47548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07899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131673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Wks 1–2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160934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94360" y="1993392"/>
            <a:ext cx="1554480" cy="0"/>
          </a:xfrm>
          <a:prstGeom prst="line">
            <a:avLst/>
          </a:prstGeom>
          <a:noFill/>
          <a:ln w="6350">
            <a:solidFill>
              <a:srgbClr val="2E60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084832"/>
            <a:ext cx="178308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CLI scaffold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CyberArk API connector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Agent v1.0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Privilege Cloud API connector</a:t>
            </a:r>
            <a:endParaRPr lang="en-US" sz="10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50008" y="2331720"/>
            <a:ext cx="182880" cy="18288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2542032" y="1078992"/>
            <a:ext cx="1920240" cy="3584448"/>
          </a:xfrm>
          <a:prstGeom prst="rect">
            <a:avLst/>
          </a:prstGeom>
          <a:solidFill>
            <a:srgbClr val="2E6096"/>
          </a:solidFill>
          <a:ln w="12700">
            <a:solidFill>
              <a:srgbClr val="2E60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2542032" y="1078992"/>
            <a:ext cx="1920240" cy="47548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542032" y="107899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2542032" y="131673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Wks 3–5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2633472" y="160934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Agents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2724912" y="1993392"/>
            <a:ext cx="1554480" cy="0"/>
          </a:xfrm>
          <a:prstGeom prst="line">
            <a:avLst/>
          </a:prstGeom>
          <a:noFill/>
          <a:ln w="6350">
            <a:solidFill>
              <a:srgbClr val="2E609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633472" y="2084832"/>
            <a:ext cx="178308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Analysis Agent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 Mapping Engine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Agent core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ServiceNow/Jira integration</a:t>
            </a:r>
            <a:endParaRPr lang="en-US" sz="1000" dirty="0"/>
          </a:p>
        </p:txBody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2331720"/>
            <a:ext cx="182880" cy="182880"/>
          </a:xfrm>
          <a:prstGeom prst="rect">
            <a:avLst/>
          </a:prstGeom>
        </p:spPr>
      </p:pic>
      <p:sp>
        <p:nvSpPr>
          <p:cNvPr id="23" name="Shape 19"/>
          <p:cNvSpPr/>
          <p:nvPr/>
        </p:nvSpPr>
        <p:spPr>
          <a:xfrm>
            <a:off x="4672584" y="1078992"/>
            <a:ext cx="1920240" cy="3584448"/>
          </a:xfrm>
          <a:prstGeom prst="rect">
            <a:avLst/>
          </a:prstGeom>
          <a:solidFill>
            <a:srgbClr val="004D40"/>
          </a:solidFill>
          <a:ln w="12700">
            <a:solidFill>
              <a:srgbClr val="004D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4672584" y="1078992"/>
            <a:ext cx="1920240" cy="47548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4672584" y="107899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100" dirty="0"/>
          </a:p>
        </p:txBody>
      </p:sp>
      <p:sp>
        <p:nvSpPr>
          <p:cNvPr id="26" name="Text 22"/>
          <p:cNvSpPr/>
          <p:nvPr/>
        </p:nvSpPr>
        <p:spPr>
          <a:xfrm>
            <a:off x="4672584" y="131673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Wks 6–7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4764024" y="160934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600" dirty="0"/>
          </a:p>
        </p:txBody>
      </p:sp>
      <p:sp>
        <p:nvSpPr>
          <p:cNvPr id="28" name="Shape 24"/>
          <p:cNvSpPr/>
          <p:nvPr/>
        </p:nvSpPr>
        <p:spPr>
          <a:xfrm>
            <a:off x="4855464" y="1993392"/>
            <a:ext cx="1554480" cy="0"/>
          </a:xfrm>
          <a:prstGeom prst="line">
            <a:avLst/>
          </a:prstGeom>
          <a:noFill/>
          <a:ln w="6350">
            <a:solidFill>
              <a:srgbClr val="2E6096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4764024" y="2084832"/>
            <a:ext cx="178308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Heartbeat Monitor Agent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Validation Agent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Logger Agent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pilot test</a:t>
            </a:r>
            <a:endParaRPr lang="en-US" sz="1000" dirty="0"/>
          </a:p>
        </p:txBody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1112" y="2331720"/>
            <a:ext cx="182880" cy="182880"/>
          </a:xfrm>
          <a:prstGeom prst="rect">
            <a:avLst/>
          </a:prstGeom>
        </p:spPr>
      </p:pic>
      <p:sp>
        <p:nvSpPr>
          <p:cNvPr id="31" name="Shape 26"/>
          <p:cNvSpPr/>
          <p:nvPr/>
        </p:nvSpPr>
        <p:spPr>
          <a:xfrm>
            <a:off x="6803136" y="1078992"/>
            <a:ext cx="1920240" cy="3584448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Shape 27"/>
          <p:cNvSpPr/>
          <p:nvPr/>
        </p:nvSpPr>
        <p:spPr>
          <a:xfrm>
            <a:off x="6803136" y="1078992"/>
            <a:ext cx="1920240" cy="47548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6803136" y="107899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100" dirty="0"/>
          </a:p>
        </p:txBody>
      </p:sp>
      <p:sp>
        <p:nvSpPr>
          <p:cNvPr id="34" name="Text 29"/>
          <p:cNvSpPr/>
          <p:nvPr/>
        </p:nvSpPr>
        <p:spPr>
          <a:xfrm>
            <a:off x="6803136" y="131673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8+</a:t>
            </a:r>
            <a:endParaRPr lang="en-US" sz="1000" dirty="0"/>
          </a:p>
        </p:txBody>
      </p:sp>
      <p:sp>
        <p:nvSpPr>
          <p:cNvPr id="35" name="Text 30"/>
          <p:cNvSpPr/>
          <p:nvPr/>
        </p:nvSpPr>
        <p:spPr>
          <a:xfrm>
            <a:off x="6894576" y="160934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1600" dirty="0"/>
          </a:p>
        </p:txBody>
      </p:sp>
      <p:sp>
        <p:nvSpPr>
          <p:cNvPr id="36" name="Shape 31"/>
          <p:cNvSpPr/>
          <p:nvPr/>
        </p:nvSpPr>
        <p:spPr>
          <a:xfrm>
            <a:off x="6986016" y="1993392"/>
            <a:ext cx="1554480" cy="0"/>
          </a:xfrm>
          <a:prstGeom prst="line">
            <a:avLst/>
          </a:prstGeom>
          <a:noFill/>
          <a:ln w="6350">
            <a:solidFill>
              <a:srgbClr val="2E6096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6894576" y="2084832"/>
            <a:ext cx="178308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Runbook Execution Agent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&amp; alerting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Human-in-loop gates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handoff</a:t>
            </a:r>
            <a:endParaRPr lang="en-US" sz="1000" dirty="0"/>
          </a:p>
        </p:txBody>
      </p:sp>
      <p:sp>
        <p:nvSpPr>
          <p:cNvPr id="38" name="Shape 33"/>
          <p:cNvSpPr/>
          <p:nvPr/>
        </p:nvSpPr>
        <p:spPr>
          <a:xfrm>
            <a:off x="411480" y="4681728"/>
            <a:ext cx="8321040" cy="274320"/>
          </a:xfrm>
          <a:prstGeom prst="rect">
            <a:avLst/>
          </a:prstGeom>
          <a:solidFill>
            <a:srgbClr val="E3EAF4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502920" y="468172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Stack: Node.js / Python  |  Claude API (Coordinator)  |  Grok/Gemini (specialized tasks)  |  CyberArk REST API  |  PowerShell SDK  |  ServiceNow REST  |  Azure/Entra Graph API</a:t>
            </a:r>
            <a:endParaRPr lang="en-US" sz="900" dirty="0"/>
          </a:p>
        </p:txBody>
      </p:sp>
      <p:sp>
        <p:nvSpPr>
          <p:cNvPr id="40" name="Text 35"/>
          <p:cNvSpPr/>
          <p:nvPr/>
        </p:nvSpPr>
        <p:spPr>
          <a:xfrm>
            <a:off x="411480" y="4919472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Migration System  |  Implementation Roadmap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61204"/>
            <a:ext cx="9144000" cy="82296"/>
          </a:xfrm>
          <a:prstGeom prst="rect">
            <a:avLst/>
          </a:prstGeom>
          <a:solidFill>
            <a:srgbClr val="2E6096"/>
          </a:solidFill>
          <a:ln w="12700">
            <a:solidFill>
              <a:srgbClr val="2E6096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tretch>
            <a:fillRect/>
          </a:stretch>
        </p:blipFill>
        <p:spPr>
          <a:xfrm>
            <a:off x="5943600" y="548640"/>
            <a:ext cx="2834640" cy="2834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502920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Build.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457200" y="1078992"/>
            <a:ext cx="5943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3800" dirty="0"/>
          </a:p>
        </p:txBody>
      </p:sp>
      <p:sp>
        <p:nvSpPr>
          <p:cNvPr id="7" name="Shape 4"/>
          <p:cNvSpPr/>
          <p:nvPr/>
        </p:nvSpPr>
        <p:spPr>
          <a:xfrm>
            <a:off x="457200" y="1664208"/>
            <a:ext cx="5029200" cy="0"/>
          </a:xfrm>
          <a:prstGeom prst="line">
            <a:avLst/>
          </a:prstGeom>
          <a:noFill/>
          <a:ln w="9525">
            <a:solidFill>
              <a:srgbClr val="2E609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" y="1783080"/>
            <a:ext cx="320040" cy="3200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17830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96112" y="180136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alignment &amp; scope confirmation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57200" y="2258568"/>
            <a:ext cx="320040" cy="3200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22585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96112" y="2276856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 off Phase 1: API connector + Discovery Agent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57200" y="2734056"/>
            <a:ext cx="320040" cy="3200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7200" y="273405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96112" y="2752344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on non-production environment with sample data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457200" y="3209544"/>
            <a:ext cx="320040" cy="3200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57200" y="320954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896112" y="3227832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 and validate against your migration manifest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457200" y="3685032"/>
            <a:ext cx="320040" cy="3200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7200" y="368503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896112" y="370332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production deployment aligned to migration schedule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457200" y="486460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Migration System  |  CyberArk On-Prem → Privilege Cloud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AI Migration System — CyberArk On-Prem to Cloud</dc:title>
  <dc:subject>PptxGenJS Presentation</dc:subject>
  <dc:creator>PptxGenJS</dc:creator>
  <cp:lastModifiedBy>PptxGenJS</cp:lastModifiedBy>
  <cp:revision>1</cp:revision>
  <dcterms:created xsi:type="dcterms:W3CDTF">2026-03-02T23:57:02Z</dcterms:created>
  <dcterms:modified xsi:type="dcterms:W3CDTF">2026-03-02T23:57:02Z</dcterms:modified>
</cp:coreProperties>
</file>